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514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6257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kern="0" spc="4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MERCATO NOVA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Marketplace d'Art en Ligne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2331720"/>
            <a:ext cx="27432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E8C96A"/>
                </a:solidFill>
              </a:rPr>
              <a:t>LIVRABLE 1 — CONCEPTION &amp; JUSTIFICATION TECHNIQUE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3063240"/>
            <a:ext cx="2194560" cy="1005840"/>
          </a:xfrm>
          <a:prstGeom prst="rect">
            <a:avLst/>
          </a:prstGeom>
          <a:solidFill>
            <a:srgbClr val="2A2A4A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</a:rPr>
              <a:t>Wireframes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5EE"/>
                </a:solidFill>
              </a:rPr>
              <a:t>Interfaces principales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3063240"/>
            <a:ext cx="2194560" cy="1005840"/>
          </a:xfrm>
          <a:prstGeom prst="rect">
            <a:avLst/>
          </a:prstGeom>
          <a:solidFill>
            <a:srgbClr val="2A2A4A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474720" y="31089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</a:rPr>
              <a:t>Architecture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3474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5EE"/>
                </a:solidFill>
              </a:rPr>
              <a:t>Schéma technique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3063240"/>
            <a:ext cx="2194560" cy="1005840"/>
          </a:xfrm>
          <a:prstGeom prst="rect">
            <a:avLst/>
          </a:prstGeom>
          <a:solidFill>
            <a:srgbClr val="2A2A4A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035040" y="31089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</a:rPr>
              <a:t>Modèle MCD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35040" y="3474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5EE"/>
                </a:solidFill>
              </a:rPr>
              <a:t>Base de données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Projet Web Dynamique 2026  |  ECE Paris  |  ING2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9A84C"/>
                </a:solidFill>
              </a:rPr>
              <a:t>Deadline : Jeudi 28 mai 2026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Sommaire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02920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02412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Positionnement &amp; Vision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207008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Concept, public cible, différenciation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502920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65760" y="155448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57276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Spécifications Fonctionnelles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755648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Rôles, fonctionnalités, règles métier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103120"/>
            <a:ext cx="502920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65760" y="210312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12140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Architecture Technique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304288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Stack React + PHP + MySQL, schéma client-serveur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651760"/>
            <a:ext cx="502920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65760" y="265176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67004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Modèle Entité-Association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852928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Entités, associations, cardinalités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200400"/>
            <a:ext cx="502920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65760" y="320040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21868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Wireframes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401568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Interfaces principales de la plateforme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749040"/>
            <a:ext cx="502920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65760" y="374904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</a:rPr>
              <a:t>06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376732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Storyboard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3950208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Parcours utilisateurs clés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4297680"/>
            <a:ext cx="502920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365760" y="429768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</a:rPr>
              <a:t>07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431596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Répartition du Travail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05840" y="4498848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Organisation prévisionnelle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— Positionnement &amp; Vision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35661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84C"/>
                </a:solidFill>
              </a:rPr>
              <a:t>Concept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8F5EE"/>
                </a:solidFill>
              </a:rPr>
              <a:t>Mercato Nova Art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5EE"/>
                </a:solidFill>
              </a:rPr>
              <a:t>est une marketplace spécialisée dédiée à l'achat, la vente et la mise aux enchères d'œuvres d'art originales.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5EE"/>
                </a:solidFill>
              </a:rPr>
              <a:t>La plateforme connecte artistes, galeries et collectionneurs autour de trois mécanismes de transaction 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5EE"/>
                </a:solidFill>
              </a:rPr>
              <a:t>• Achat immédiat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5EE"/>
                </a:solidFill>
              </a:rPr>
              <a:t>• Enchères temporisées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5EE"/>
                </a:solidFill>
              </a:rPr>
              <a:t>• Négociation directe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023360" cy="1554480"/>
          </a:xfrm>
          <a:prstGeom prst="rect">
            <a:avLst/>
          </a:prstGeom>
          <a:solidFill>
            <a:srgbClr val="F3F0E8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754880" y="9601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</a:rPr>
              <a:t>Public Cible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389888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Artistes &amp; créateurs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souhaitant vendre leurs œuvres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Collectionneurs &amp; acheteurs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à la recherche de pièces uniques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Galeries d'art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gérant plusieurs artistes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2651760"/>
            <a:ext cx="4023360" cy="1874520"/>
          </a:xfrm>
          <a:prstGeom prst="rect">
            <a:avLst/>
          </a:prstGeom>
          <a:solidFill>
            <a:srgbClr val="F3F0E8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754880" y="26517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</a:rPr>
              <a:t>Différenciation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3090672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Niche art :</a:t>
            </a:r>
            <a:r>
              <a:rPr lang="en-US" sz="1000" dirty="0">
                <a:solidFill>
                  <a:srgbClr val="1A1A2E"/>
                </a:solidFill>
              </a:rPr>
              <a:t> catalogue pensé pour les œuvres (dimensions, technique, style)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3 modes de vente :</a:t>
            </a:r>
            <a:r>
              <a:rPr lang="en-US" sz="1000" dirty="0">
                <a:solidFill>
                  <a:srgbClr val="1A1A2E"/>
                </a:solidFill>
              </a:rPr>
              <a:t> immédiat, enchère, négociation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Profils vendeurs riches :</a:t>
            </a:r>
            <a:r>
              <a:rPr lang="en-US" sz="1000" dirty="0">
                <a:solidFill>
                  <a:srgbClr val="1A1A2E"/>
                </a:solidFill>
              </a:rPr>
              <a:t> bio artiste, portfolio, statistiques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Certification œuvres :</a:t>
            </a:r>
            <a:r>
              <a:rPr lang="en-US" sz="1000" dirty="0">
                <a:solidFill>
                  <a:srgbClr val="1A1A2E"/>
                </a:solidFill>
              </a:rPr>
              <a:t> validation admin avant publication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— Rôles Utilisateurs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7B2D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384048"/>
          </a:xfrm>
          <a:prstGeom prst="rect">
            <a:avLst/>
          </a:prstGeom>
          <a:solidFill>
            <a:srgbClr val="7B2D42"/>
          </a:solidFill>
          <a:ln w="12700">
            <a:solidFill>
              <a:srgbClr val="7B2D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Administrateur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Valider / rejeter les annonces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Modérer le contenu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Gérer les comptes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Accès aux statistiques globales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D4A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14800" cy="384048"/>
          </a:xfrm>
          <a:prstGeom prst="rect">
            <a:avLst/>
          </a:prstGeom>
          <a:solidFill>
            <a:srgbClr val="2D4A7B"/>
          </a:solidFill>
          <a:ln w="12700">
            <a:solidFill>
              <a:srgbClr val="2D4A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709160" y="9601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Vendeur / Artiste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3716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Créer et gérer ses annonces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Choisir le mode de vente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Recevoir notifications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Consulter ses ventes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97180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D7B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274320" y="2971800"/>
            <a:ext cx="4114800" cy="384048"/>
          </a:xfrm>
          <a:prstGeom prst="rect">
            <a:avLst/>
          </a:prstGeom>
          <a:solidFill>
            <a:srgbClr val="2D7B5A"/>
          </a:solidFill>
          <a:ln w="12700">
            <a:solidFill>
              <a:srgbClr val="2D7B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74320" y="297180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Acheteur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338328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Parcourir le catalogue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Acheter / enchérir / négocier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Gérer son panier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Suivre ses commandes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97180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709160" y="2971800"/>
            <a:ext cx="4114800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709160" y="297180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Galerie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338328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Gérer plusieurs artistes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Publier au nom des artistes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Tableau de bord multi-artistes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Statistiques agrégées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— Fonctionnalités Principales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D4A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43200" cy="347472"/>
          </a:xfrm>
          <a:prstGeom prst="rect">
            <a:avLst/>
          </a:prstGeom>
          <a:solidFill>
            <a:srgbClr val="2D4A7B"/>
          </a:solidFill>
          <a:ln w="12700">
            <a:solidFill>
              <a:srgbClr val="2D4A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Catalogue &amp; Recherche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256032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Filtres : style, technique, prix, état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Recherche plein texte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Tri par date / popularité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Vue grille / liste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D7B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743200" cy="347472"/>
          </a:xfrm>
          <a:prstGeom prst="rect">
            <a:avLst/>
          </a:prstGeom>
          <a:solidFill>
            <a:srgbClr val="2D7B5A"/>
          </a:solidFill>
          <a:ln w="12700">
            <a:solidFill>
              <a:srgbClr val="2D7B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200400" y="9144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Achat Immédiat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1298448"/>
            <a:ext cx="256032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Bouton 'Acheter maintenant'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Panier multi-articles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Paiement simulé sécurisé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Confirmation &amp; reçu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7B2D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126480" y="914400"/>
            <a:ext cx="2743200" cy="347472"/>
          </a:xfrm>
          <a:prstGeom prst="rect">
            <a:avLst/>
          </a:prstGeom>
          <a:solidFill>
            <a:srgbClr val="7B2D42"/>
          </a:solidFill>
          <a:ln w="12700">
            <a:solidFill>
              <a:srgbClr val="7B2D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126480" y="9144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Enchères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1298448"/>
            <a:ext cx="256032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Durée définie par le vendeur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Offres en temps réel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Surenchère minimale configurable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Notification fin d'enchère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74320" y="2971800"/>
            <a:ext cx="2743200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74320" y="29718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Négociation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355848"/>
            <a:ext cx="256032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Max 5 échanges par négociation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États : en cours / accepté / refusé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Expiration automatique (48h)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Historique des offres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0" y="297180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5B21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200400" y="2971800"/>
            <a:ext cx="2743200" cy="34747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200400" y="29718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Notifications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3355848"/>
            <a:ext cx="256032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Surenchère reçue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Contre-offre reçue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Enchère gagnée / perdue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Annonce validée par admin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297180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6126480" y="2971800"/>
            <a:ext cx="2743200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126480" y="29718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Espace Vendeur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3355848"/>
            <a:ext cx="256032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Gestion des annonces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Statistiques de vues / ventes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Historique des transactions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Profil artiste public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— Architecture Technique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560320" cy="3566160"/>
          </a:xfrm>
          <a:prstGeom prst="rect">
            <a:avLst/>
          </a:prstGeom>
          <a:solidFill>
            <a:srgbClr val="2D4A7B"/>
          </a:solidFill>
          <a:ln w="12700">
            <a:solidFill>
              <a:srgbClr val="2D4A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FRONTEND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53312"/>
            <a:ext cx="23774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React.js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SPA (Single Page App)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React Router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Navigation entre pages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Axios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Appels API REST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CSS Modules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Styles encapsulés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971800" y="2468880"/>
            <a:ext cx="64008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944368" y="219456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REST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API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11880" y="914400"/>
            <a:ext cx="2560320" cy="3566160"/>
          </a:xfrm>
          <a:prstGeom prst="rect">
            <a:avLst/>
          </a:prstGeom>
          <a:solidFill>
            <a:srgbClr val="7B2D42"/>
          </a:solidFill>
          <a:ln w="12700">
            <a:solidFill>
              <a:srgbClr val="7B2D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611880" y="9144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03320" y="1353312"/>
            <a:ext cx="23774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PHP 8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API REST JSON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Architecture MVC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Séparation logique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Sessions PHP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Authentification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PDO MySQLi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Accès sécurisé BDD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2468880"/>
            <a:ext cx="64008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190488" y="219456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SQL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Requêtes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858000" y="914400"/>
            <a:ext cx="1920240" cy="3566160"/>
          </a:xfrm>
          <a:prstGeom prst="rect">
            <a:avLst/>
          </a:prstGeom>
          <a:solidFill>
            <a:srgbClr val="2D7B5A"/>
          </a:solidFill>
          <a:ln w="12700">
            <a:solidFill>
              <a:srgbClr val="2D7B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858000" y="914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BASE 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DONNÉES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49440" y="1444752"/>
            <a:ext cx="17373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MySQL 8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SGBD relationnel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Tables
principales :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users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artworks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bids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negotiations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orders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notifications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— Modèle Entité-Association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20240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2D4A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920240" cy="347472"/>
          </a:xfrm>
          <a:prstGeom prst="rect">
            <a:avLst/>
          </a:prstGeom>
          <a:solidFill>
            <a:srgbClr val="2D4A7B"/>
          </a:solidFill>
          <a:ln w="12700">
            <a:solidFill>
              <a:srgbClr val="2D4A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3533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B2D42"/>
                </a:solidFill>
              </a:rPr>
              <a:t>id_user (PK)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160934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email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18653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password_hash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" y="21214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nom, prenom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0040" y="23774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role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0040" y="26334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date_inscription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926080" y="868680"/>
            <a:ext cx="1920240" cy="2139696"/>
          </a:xfrm>
          <a:prstGeom prst="rect">
            <a:avLst/>
          </a:prstGeom>
          <a:solidFill>
            <a:srgbClr val="FFFFFF"/>
          </a:solidFill>
          <a:ln w="12700">
            <a:solidFill>
              <a:srgbClr val="7B2D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926080" y="868680"/>
            <a:ext cx="1920240" cy="347472"/>
          </a:xfrm>
          <a:prstGeom prst="rect">
            <a:avLst/>
          </a:prstGeom>
          <a:solidFill>
            <a:srgbClr val="7B2D42"/>
          </a:solidFill>
          <a:ln w="12700">
            <a:solidFill>
              <a:srgbClr val="7B2D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926080" y="8686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ARTWORK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71800" y="12161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B2D42"/>
                </a:solidFill>
              </a:rPr>
              <a:t>id_artwork (PK)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971800" y="147218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titre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971800" y="172821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description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971800" y="19842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prix_base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971800" y="22402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type_vente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971800" y="24963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statut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971800" y="275234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D4A7B"/>
                </a:solidFill>
              </a:rPr>
              <a:t>id_user (FK)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760720" y="868680"/>
            <a:ext cx="20116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2D7B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5760720" y="868680"/>
            <a:ext cx="2011680" cy="347472"/>
          </a:xfrm>
          <a:prstGeom prst="rect">
            <a:avLst/>
          </a:prstGeom>
          <a:solidFill>
            <a:srgbClr val="2D7B5A"/>
          </a:solidFill>
          <a:ln w="12700">
            <a:solidFill>
              <a:srgbClr val="2D7B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760720" y="8686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BID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06440" y="12161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B2D42"/>
                </a:solidFill>
              </a:rPr>
              <a:t>id_bid (PK)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806440" y="147218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montant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806440" y="172821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date_offre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806440" y="19842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D4A7B"/>
                </a:solidFill>
              </a:rPr>
              <a:t>id_artwork (FK)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806440" y="22402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D4A7B"/>
                </a:solidFill>
              </a:rPr>
              <a:t>id_user (FK)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760720" y="2834640"/>
            <a:ext cx="20116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5760720" y="2834640"/>
            <a:ext cx="20116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5760720" y="28346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NEGOTIATION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806440" y="31821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B2D42"/>
                </a:solidFill>
              </a:rPr>
              <a:t>id_nego (PK)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806440" y="343814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statut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806440" y="369417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nb_echanges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806440" y="39502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D4A7B"/>
                </a:solidFill>
              </a:rPr>
              <a:t>id_artwork (FK)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806440" y="42062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D4A7B"/>
                </a:solidFill>
              </a:rPr>
              <a:t>id_acheteur (FK)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955607" y="3150108"/>
            <a:ext cx="1920240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2955607" y="3150108"/>
            <a:ext cx="1920240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2955607" y="31501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ORDER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001327" y="34975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B2D42"/>
                </a:solidFill>
              </a:rPr>
              <a:t>id_order (PK)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001327" y="37536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montant_final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001327" y="400964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date_achat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001327" y="42656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statut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001327" y="45217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D4A7B"/>
                </a:solidFill>
              </a:rPr>
              <a:t>id_artwork (FK)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001327" y="47777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D4A7B"/>
                </a:solidFill>
              </a:rPr>
              <a:t>id_acheteur (FK)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74320" y="3008376"/>
            <a:ext cx="1920240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>
            <a:off x="274320" y="3008376"/>
            <a:ext cx="1920240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274320" y="300837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NOTIFICATION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20040" y="33558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B2D42"/>
                </a:solidFill>
              </a:rPr>
              <a:t>id_notif (PK)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20040" y="36118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type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20040" y="38679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message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320040" y="412394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lu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20040" y="43799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date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20040" y="46360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D4A7B"/>
                </a:solidFill>
              </a:rPr>
              <a:t>id_user (FK)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194560" y="1691640"/>
            <a:ext cx="7315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58" name="Shape 56"/>
          <p:cNvSpPr/>
          <p:nvPr/>
        </p:nvSpPr>
        <p:spPr>
          <a:xfrm>
            <a:off x="4846320" y="1463040"/>
            <a:ext cx="9144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59" name="Shape 57"/>
          <p:cNvSpPr/>
          <p:nvPr/>
        </p:nvSpPr>
        <p:spPr>
          <a:xfrm>
            <a:off x="4846320" y="2011680"/>
            <a:ext cx="77724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60" name="Shape 58"/>
          <p:cNvSpPr/>
          <p:nvPr/>
        </p:nvSpPr>
        <p:spPr>
          <a:xfrm flipH="1">
            <a:off x="5276851" y="2752344"/>
            <a:ext cx="0" cy="886968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61" name="Shape 59"/>
          <p:cNvSpPr/>
          <p:nvPr/>
        </p:nvSpPr>
        <p:spPr>
          <a:xfrm flipV="1">
            <a:off x="2194559" y="3566159"/>
            <a:ext cx="761047" cy="1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62" name="Shape 6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3" name="Shape 58">
            <a:extLst>
              <a:ext uri="{FF2B5EF4-FFF2-40B4-BE49-F238E27FC236}">
                <a16:creationId xmlns:a16="http://schemas.microsoft.com/office/drawing/2014/main" id="{AECF8D3E-5B4F-882A-F5EA-29FC70E0D712}"/>
              </a:ext>
            </a:extLst>
          </p:cNvPr>
          <p:cNvSpPr/>
          <p:nvPr/>
        </p:nvSpPr>
        <p:spPr>
          <a:xfrm flipH="1">
            <a:off x="4875847" y="3639312"/>
            <a:ext cx="386716" cy="4573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64" name="Shape 58">
            <a:extLst>
              <a:ext uri="{FF2B5EF4-FFF2-40B4-BE49-F238E27FC236}">
                <a16:creationId xmlns:a16="http://schemas.microsoft.com/office/drawing/2014/main" id="{CA7799C7-596C-9B37-52F8-99FB6CC9D97C}"/>
              </a:ext>
            </a:extLst>
          </p:cNvPr>
          <p:cNvSpPr/>
          <p:nvPr/>
        </p:nvSpPr>
        <p:spPr>
          <a:xfrm flipH="1">
            <a:off x="4846320" y="2757487"/>
            <a:ext cx="386716" cy="4573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65" name="Shape 58">
            <a:extLst>
              <a:ext uri="{FF2B5EF4-FFF2-40B4-BE49-F238E27FC236}">
                <a16:creationId xmlns:a16="http://schemas.microsoft.com/office/drawing/2014/main" id="{2CD8FC7D-85F0-D5DE-F69F-61799210970D}"/>
              </a:ext>
            </a:extLst>
          </p:cNvPr>
          <p:cNvSpPr/>
          <p:nvPr/>
        </p:nvSpPr>
        <p:spPr>
          <a:xfrm flipH="1">
            <a:off x="5576889" y="2052828"/>
            <a:ext cx="0" cy="1641348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66" name="Shape 58">
            <a:extLst>
              <a:ext uri="{FF2B5EF4-FFF2-40B4-BE49-F238E27FC236}">
                <a16:creationId xmlns:a16="http://schemas.microsoft.com/office/drawing/2014/main" id="{4B7FDB33-978E-0F00-E14E-E50C1EA8BCC6}"/>
              </a:ext>
            </a:extLst>
          </p:cNvPr>
          <p:cNvSpPr/>
          <p:nvPr/>
        </p:nvSpPr>
        <p:spPr>
          <a:xfrm flipH="1">
            <a:off x="5590222" y="3691889"/>
            <a:ext cx="170498" cy="4573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— Wireframe : Page d'Accueil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7955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MERCATO NOVA  |  Catalogue  Enchères  Négociation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0" y="7955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</a:rPr>
              <a:t>🔍  Se connecter  Panier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8412480" cy="1234440"/>
          </a:xfrm>
          <a:prstGeom prst="rect">
            <a:avLst/>
          </a:prstGeom>
          <a:solidFill>
            <a:srgbClr val="2A2A4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7200" y="1325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Découvrez l'Art Autrement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5EE"/>
                </a:solidFill>
              </a:rPr>
              <a:t>Achetez · Enchérissez · Négociez des œuvres uniques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1280160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57200" y="20574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</a:rPr>
              <a:t>Explorer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0" y="1207008"/>
            <a:ext cx="2816352" cy="1197864"/>
          </a:xfrm>
          <a:prstGeom prst="rect">
            <a:avLst/>
          </a:prstGeom>
          <a:solidFill>
            <a:srgbClr val="3D3D5C"/>
          </a:solidFill>
          <a:ln w="12700">
            <a:solidFill>
              <a:srgbClr val="3D3D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943600" y="1207008"/>
            <a:ext cx="2816352" cy="1197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F5EE"/>
                </a:solidFill>
              </a:rPr>
              <a:t>[Image œuvre]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Œuvres à la Une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2834640"/>
            <a:ext cx="1920240" cy="1600200"/>
          </a:xfrm>
          <a:prstGeom prst="rect">
            <a:avLst/>
          </a:prstGeom>
          <a:solidFill>
            <a:srgbClr val="F3F0E8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11480" y="2834640"/>
            <a:ext cx="1920240" cy="822960"/>
          </a:xfrm>
          <a:prstGeom prst="rect">
            <a:avLst/>
          </a:prstGeom>
          <a:solidFill>
            <a:srgbClr val="CCCCCC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11480" y="28346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[Image]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37033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</a:rPr>
              <a:t>Titre Œuvre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388620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Artiste • 2024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57200" y="40507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2D42"/>
                </a:solidFill>
              </a:rPr>
              <a:t>450 €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371600" y="4069080"/>
            <a:ext cx="914400" cy="2011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1371600" y="4069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Acheter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496312" y="2834640"/>
            <a:ext cx="1920240" cy="1600200"/>
          </a:xfrm>
          <a:prstGeom prst="rect">
            <a:avLst/>
          </a:prstGeom>
          <a:solidFill>
            <a:srgbClr val="F3F0E8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2496312" y="2834640"/>
            <a:ext cx="1920240" cy="822960"/>
          </a:xfrm>
          <a:prstGeom prst="rect">
            <a:avLst/>
          </a:prstGeom>
          <a:solidFill>
            <a:srgbClr val="CCCCCC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2496312" y="28346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[Image]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542032" y="37033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</a:rPr>
              <a:t>Titre Œuvre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542032" y="388620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Artiste • 2024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542032" y="40507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2D42"/>
                </a:solidFill>
              </a:rPr>
              <a:t>450 €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456432" y="4069080"/>
            <a:ext cx="914400" cy="2011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3456432" y="4069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Acheter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581144" y="2834640"/>
            <a:ext cx="1920240" cy="1600200"/>
          </a:xfrm>
          <a:prstGeom prst="rect">
            <a:avLst/>
          </a:prstGeom>
          <a:solidFill>
            <a:srgbClr val="F3F0E8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4581144" y="2834640"/>
            <a:ext cx="1920240" cy="822960"/>
          </a:xfrm>
          <a:prstGeom prst="rect">
            <a:avLst/>
          </a:prstGeom>
          <a:solidFill>
            <a:srgbClr val="CCCCCC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4581144" y="28346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[Image]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26864" y="37033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</a:rPr>
              <a:t>Titre Œuvre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626864" y="388620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Artiste • 2024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626864" y="40507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2D42"/>
                </a:solidFill>
              </a:rPr>
              <a:t>450 €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541264" y="4069080"/>
            <a:ext cx="914400" cy="2011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5541264" y="4069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Acheter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665976" y="2834640"/>
            <a:ext cx="1920240" cy="1600200"/>
          </a:xfrm>
          <a:prstGeom prst="rect">
            <a:avLst/>
          </a:prstGeom>
          <a:solidFill>
            <a:srgbClr val="F3F0E8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6665976" y="2834640"/>
            <a:ext cx="1920240" cy="822960"/>
          </a:xfrm>
          <a:prstGeom prst="rect">
            <a:avLst/>
          </a:prstGeom>
          <a:solidFill>
            <a:srgbClr val="CCCCCC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6665976" y="28346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[Image]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711696" y="37033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</a:rPr>
              <a:t>Titre Œuvre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711696" y="388620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</a:rPr>
              <a:t>Artiste • 2024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711696" y="40507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2D42"/>
                </a:solidFill>
              </a:rPr>
              <a:t>450 €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626096" y="4069080"/>
            <a:ext cx="914400" cy="2011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7626096" y="4069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Acheter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— Wireframes : Enchère &amp; Négociation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14800" cy="320040"/>
          </a:xfrm>
          <a:prstGeom prst="rect">
            <a:avLst/>
          </a:prstGeom>
          <a:solidFill>
            <a:srgbClr val="7B2D42"/>
          </a:solidFill>
          <a:ln w="12700">
            <a:solidFill>
              <a:srgbClr val="7B2D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VENTE PAR ENCHÈRE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1645920" cy="1371600"/>
          </a:xfrm>
          <a:prstGeom prst="rect">
            <a:avLst/>
          </a:prstGeom>
          <a:solidFill>
            <a:srgbClr val="DDDDDD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1115568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[Image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œuvre]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03120" y="11430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</a:rPr>
              <a:t>Composition n°42 — Marie D.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03120" y="137160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Huile sur toile • 80×60 cm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103120" y="1572768"/>
            <a:ext cx="2194560" cy="822960"/>
          </a:xfrm>
          <a:prstGeom prst="rect">
            <a:avLst/>
          </a:prstGeom>
          <a:solidFill>
            <a:srgbClr val="FFF3CD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148840" y="159105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Meilleure offre actuelle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48840" y="17830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B2D42"/>
                </a:solidFill>
              </a:rPr>
              <a:t>1 250 €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148840" y="210312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⏱ Fin dans : 02:14:32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2560320"/>
            <a:ext cx="3931920" cy="27432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11480" y="257860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Votre offre :  [______ €]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907792"/>
            <a:ext cx="3931920" cy="292608"/>
          </a:xfrm>
          <a:prstGeom prst="rect">
            <a:avLst/>
          </a:prstGeom>
          <a:solidFill>
            <a:srgbClr val="7B2D42"/>
          </a:solidFill>
          <a:ln w="12700">
            <a:solidFill>
              <a:srgbClr val="7B2D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65760" y="29077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ENCHÉRIR MAINTENANT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327355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A2E"/>
                </a:solidFill>
              </a:rPr>
              <a:t>Historique des offres 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5760" y="349300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Thomas R.   1 250 €   14:32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5760" y="369417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Sophie M.   1 100 €   13:15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5760" y="389534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Lucas B.   950 €   11:02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754880" y="777240"/>
            <a:ext cx="41148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754880" y="777240"/>
            <a:ext cx="4114800" cy="320040"/>
          </a:xfrm>
          <a:prstGeom prst="rect">
            <a:avLst/>
          </a:prstGeom>
          <a:solidFill>
            <a:srgbClr val="2D7B5A"/>
          </a:solidFill>
          <a:ln w="12700">
            <a:solidFill>
              <a:srgbClr val="2D7B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75488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VENTE PAR NÉGOCIATION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11430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</a:rPr>
              <a:t>Sérénité Urbaine — Kana L.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0" y="137160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Prix vendeur : 800 €  |  Échanges : 2/5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846320" y="1600200"/>
            <a:ext cx="256032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2D4A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892040" y="162763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</a:rPr>
              <a:t>Vendeur : Je propose 800 €, prix final.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989320" y="2148840"/>
            <a:ext cx="2606040" cy="457200"/>
          </a:xfrm>
          <a:prstGeom prst="rect">
            <a:avLst/>
          </a:prstGeom>
          <a:solidFill>
            <a:srgbClr val="D1FAE5"/>
          </a:solidFill>
          <a:ln w="12700">
            <a:solidFill>
              <a:srgbClr val="2D7B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6035040" y="2176272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</a:rPr>
              <a:t>Acheteur : Contre-offre à 650 €.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846320" y="2697480"/>
            <a:ext cx="256032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2D4A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892040" y="272491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</a:rPr>
              <a:t>Vendeur : Je descends à 730 €, dernière offre.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846320" y="3246120"/>
            <a:ext cx="3017520" cy="27432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4892040" y="3264408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Votre contre-offre :  [_______ €]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846320" y="3584448"/>
            <a:ext cx="1783080" cy="274320"/>
          </a:xfrm>
          <a:prstGeom prst="rect">
            <a:avLst/>
          </a:prstGeom>
          <a:solidFill>
            <a:srgbClr val="2D7B5A"/>
          </a:solidFill>
          <a:ln w="12700">
            <a:solidFill>
              <a:srgbClr val="2D7B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4846320" y="358444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Proposer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720840" y="3584448"/>
            <a:ext cx="2057400" cy="274320"/>
          </a:xfrm>
          <a:prstGeom prst="rect">
            <a:avLst/>
          </a:prstGeom>
          <a:solidFill>
            <a:srgbClr val="7B2D42"/>
          </a:solidFill>
          <a:ln w="12700">
            <a:solidFill>
              <a:srgbClr val="7B2D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6720840" y="358444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Accepter 730 €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846320" y="393192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</a:rPr>
              <a:t>⏱ Expiration négociation : 46h12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— Storyboard : Parcours Acheteur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D4A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43200" cy="365760"/>
          </a:xfrm>
          <a:prstGeom prst="rect">
            <a:avLst/>
          </a:prstGeom>
          <a:solidFill>
            <a:srgbClr val="2D4A7B"/>
          </a:solidFill>
          <a:ln w="12700">
            <a:solidFill>
              <a:srgbClr val="2D4A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1. Accueil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2560320" cy="822960"/>
          </a:xfrm>
          <a:prstGeom prst="rect">
            <a:avLst/>
          </a:prstGeom>
          <a:solidFill>
            <a:srgbClr val="F3F0E8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</a:rPr>
              <a:t>[Accueil]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L'acheteur arrive sur la homepage et voit les œuvres en une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017520" y="1463040"/>
            <a:ext cx="164592" cy="457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00400" y="91440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D4A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200400" y="914400"/>
            <a:ext cx="2743200" cy="365760"/>
          </a:xfrm>
          <a:prstGeom prst="rect">
            <a:avLst/>
          </a:prstGeom>
          <a:solidFill>
            <a:srgbClr val="2D4A7B"/>
          </a:solidFill>
          <a:ln w="12700">
            <a:solidFill>
              <a:srgbClr val="2D4A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20040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2. Recherche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1325880"/>
            <a:ext cx="2560320" cy="822960"/>
          </a:xfrm>
          <a:prstGeom prst="rect">
            <a:avLst/>
          </a:prstGeom>
          <a:solidFill>
            <a:srgbClr val="F3F0E8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291840" y="13258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</a:rPr>
              <a:t>[Recherche]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91840" y="21945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Il filtre par style, technique ou prix dans le catalogue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0" y="1463040"/>
            <a:ext cx="164592" cy="457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6126480" y="91440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D7B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6126480" y="914400"/>
            <a:ext cx="2743200" cy="365760"/>
          </a:xfrm>
          <a:prstGeom prst="rect">
            <a:avLst/>
          </a:prstGeom>
          <a:solidFill>
            <a:srgbClr val="2D7B5A"/>
          </a:solidFill>
          <a:ln w="12700">
            <a:solidFill>
              <a:srgbClr val="2D7B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12648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3. Fiche Œuvre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1325880"/>
            <a:ext cx="2560320" cy="822960"/>
          </a:xfrm>
          <a:prstGeom prst="rect">
            <a:avLst/>
          </a:prstGeom>
          <a:solidFill>
            <a:srgbClr val="F3F0E8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217920" y="13258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</a:rPr>
              <a:t>[Fiche Œuvre]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17920" y="21945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Il consulte les détails, photos, bio artiste, mode de vente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06324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274320" y="3063240"/>
            <a:ext cx="2743200" cy="365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274320" y="3063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4. Transaction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474720"/>
            <a:ext cx="2560320" cy="822960"/>
          </a:xfrm>
          <a:prstGeom prst="rect">
            <a:avLst/>
          </a:prstGeom>
          <a:solidFill>
            <a:srgbClr val="F3F0E8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365760" y="34747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</a:rPr>
              <a:t>[Transaction]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43434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Il choisit : achat immédiat, enchère ou négociation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017520" y="3611880"/>
            <a:ext cx="164592" cy="457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3200400" y="306324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200400" y="3063240"/>
            <a:ext cx="2743200" cy="365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200400" y="3063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5. Panier / Offre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91840" y="3474720"/>
            <a:ext cx="2560320" cy="822960"/>
          </a:xfrm>
          <a:prstGeom prst="rect">
            <a:avLst/>
          </a:prstGeom>
          <a:solidFill>
            <a:srgbClr val="F3F0E8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3291840" y="34747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</a:rPr>
              <a:t>[Panier / Offre]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91840" y="43434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Il confirme son achat ou soumet son offre / enchère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943600" y="3611880"/>
            <a:ext cx="164592" cy="457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6126480" y="306324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D7B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6126480" y="3063240"/>
            <a:ext cx="2743200" cy="365760"/>
          </a:xfrm>
          <a:prstGeom prst="rect">
            <a:avLst/>
          </a:prstGeom>
          <a:solidFill>
            <a:srgbClr val="2D7B5A"/>
          </a:solidFill>
          <a:ln w="12700">
            <a:solidFill>
              <a:srgbClr val="2D7B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6126480" y="3063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6. Confirmation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17920" y="3474720"/>
            <a:ext cx="2560320" cy="822960"/>
          </a:xfrm>
          <a:prstGeom prst="rect">
            <a:avLst/>
          </a:prstGeom>
          <a:solidFill>
            <a:srgbClr val="F3F0E8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6217920" y="34747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</a:rPr>
              <a:t>[Confirmation]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17920" y="43434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Il reçoit une notification et son historique est mis à jour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— Choix Technologiques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D4A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43200" cy="365760"/>
          </a:xfrm>
          <a:prstGeom prst="rect">
            <a:avLst/>
          </a:prstGeom>
          <a:solidFill>
            <a:srgbClr val="2D4A7B"/>
          </a:solidFill>
          <a:ln w="12700">
            <a:solidFill>
              <a:srgbClr val="2D4A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React.js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Frontend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Composants réutilisables, gestion d'état dynamique (enchères temps réel)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7B2D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743200" cy="365760"/>
          </a:xfrm>
          <a:prstGeom prst="rect">
            <a:avLst/>
          </a:prstGeom>
          <a:solidFill>
            <a:srgbClr val="7B2D42"/>
          </a:solidFill>
          <a:ln w="12700">
            <a:solidFill>
              <a:srgbClr val="7B2D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20040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PHP 8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13258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Backend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91840" y="15544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Étudié en cours, API REST simple à structurer en MVC, sessions natives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9144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D7B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6126480" y="914400"/>
            <a:ext cx="2743200" cy="365760"/>
          </a:xfrm>
          <a:prstGeom prst="rect">
            <a:avLst/>
          </a:prstGeom>
          <a:solidFill>
            <a:srgbClr val="2D7B5A"/>
          </a:solidFill>
          <a:ln w="12700">
            <a:solidFill>
              <a:srgbClr val="2D7B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12648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MySQL 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13258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Base de données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17920" y="15544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SGBD relationnel adapté aux entités métier complexes (FK, transactions)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9718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274320" y="2971800"/>
            <a:ext cx="274320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274320" y="2971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JavaScript (ES6+)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33832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Logique côté client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36118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Gestion des interactions dynamiques : timers d'enchères, mise à jour du panier, validation des formulaires en temps réel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29718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200400" y="2971800"/>
            <a:ext cx="2743200" cy="365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200400" y="2971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CSS3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91840" y="33832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Mise en forme &amp; responsive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91840" y="36118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Design de l'interface : variables CSS, Flexbox, Grid, media queries pour l'adaptation mobile, animations au survol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26480" y="29718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6126480" y="2971800"/>
            <a:ext cx="2743200" cy="3657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6126480" y="2971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HTML5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17920" y="33832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Structure des pages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17920" y="36118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Balises sémantiques structurant chaque page : formulaires d'enchère, fiches œuvres, navigation, accessibilité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— Répartition Prévisionnelle du Travail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Équipe de 3 étudiants — Développement collaboratif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64592" cy="164592"/>
          </a:xfrm>
          <a:prstGeom prst="rect">
            <a:avLst/>
          </a:prstGeom>
          <a:solidFill>
            <a:srgbClr val="2D4A7B"/>
          </a:solidFill>
          <a:ln w="12700">
            <a:solidFill>
              <a:srgbClr val="2D4A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76656" y="10972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Rafael Aiach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115568"/>
            <a:ext cx="164592" cy="164592"/>
          </a:xfrm>
          <a:prstGeom prst="rect">
            <a:avLst/>
          </a:prstGeom>
          <a:solidFill>
            <a:srgbClr val="2D7B5A"/>
          </a:solidFill>
          <a:ln w="12700">
            <a:solidFill>
              <a:srgbClr val="2D7B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511296" y="10972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Jeremie Gabovich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26480" y="1115568"/>
            <a:ext cx="164592" cy="164592"/>
          </a:xfrm>
          <a:prstGeom prst="rect">
            <a:avLst/>
          </a:prstGeom>
          <a:solidFill>
            <a:srgbClr val="7B2D42"/>
          </a:solidFill>
          <a:ln w="12700">
            <a:solidFill>
              <a:srgbClr val="7B2D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345936" y="10972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Matthieu Odinot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389888"/>
            <a:ext cx="274320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2D4A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274320" y="1389888"/>
            <a:ext cx="2743200" cy="457200"/>
          </a:xfrm>
          <a:prstGeom prst="rect">
            <a:avLst/>
          </a:prstGeom>
          <a:solidFill>
            <a:srgbClr val="2D4A7B"/>
          </a:solidFill>
          <a:ln w="12700">
            <a:solidFill>
              <a:srgbClr val="2D4A7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74320" y="13898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 Backend &amp; BDD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1892808"/>
            <a:ext cx="2560320" cy="2862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Modélisation BDD &amp; MCD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Setup PHP + architecture MVC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API REST : authentification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API REST : enchères &amp; négociation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Sécurité (sessions, injections SQL)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Tests backend &amp; corrections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0" y="1389888"/>
            <a:ext cx="274320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2D7B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200400" y="1389888"/>
            <a:ext cx="2743200" cy="457200"/>
          </a:xfrm>
          <a:prstGeom prst="rect">
            <a:avLst/>
          </a:prstGeom>
          <a:solidFill>
            <a:srgbClr val="2D7B5A"/>
          </a:solidFill>
          <a:ln w="12700">
            <a:solidFill>
              <a:srgbClr val="2D7B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200400" y="13898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 Frontend React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91840" y="1892808"/>
            <a:ext cx="2560320" cy="2862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Setup React + routing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Page d'accueil &amp; catalogue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Fiche œuvre &amp; panier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Interface enchères (timer live)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Interface négociation (messagerie)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Responsive &amp; intégration CSS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26480" y="1389888"/>
            <a:ext cx="274320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7B2D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6126480" y="1389888"/>
            <a:ext cx="2743200" cy="457200"/>
          </a:xfrm>
          <a:prstGeom prst="rect">
            <a:avLst/>
          </a:prstGeom>
          <a:solidFill>
            <a:srgbClr val="7B2D42"/>
          </a:solidFill>
          <a:ln w="12700">
            <a:solidFill>
              <a:srgbClr val="7B2D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126480" y="13898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CSS/HTML &amp; Docs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1892808"/>
            <a:ext cx="2560320" cy="2862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Charte graphique &amp; variables CSS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HTML sémantique des pages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Composants UI (cartes, modals)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Espace vendeur &amp; admin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Notifications &amp; alertes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</a:rPr>
              <a:t>Rapport, présentation &amp; tests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3200400" y="2148840"/>
            <a:ext cx="27432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Mercato Nova — Marketplace d'Art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React · PHP · MySQL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A84C"/>
                </a:solidFill>
              </a:rPr>
              <a:t>Livrable 1 — Deadline : 28 mai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1207</Words>
  <Application>Microsoft Office PowerPoint</Application>
  <PresentationFormat>On-screen Show (16:9)</PresentationFormat>
  <Paragraphs>317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Mercato Nova - Livrable 1</dc:title>
  <dc:subject>PptxGenJS Presentation</dc:subject>
  <dc:creator>PptxGenJS</dc:creator>
  <cp:lastModifiedBy>Matthieu ODINOT</cp:lastModifiedBy>
  <cp:revision>2</cp:revision>
  <dcterms:created xsi:type="dcterms:W3CDTF">2026-05-28T15:23:20Z</dcterms:created>
  <dcterms:modified xsi:type="dcterms:W3CDTF">2026-05-28T15:38:54Z</dcterms:modified>
</cp:coreProperties>
</file>